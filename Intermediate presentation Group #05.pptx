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2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82B75-5965-4B07-B713-40E005BBF139}" type="datetimeFigureOut">
              <a:rPr lang="en-DE" smtClean="0"/>
              <a:t>19/06/2026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306420-5EFF-4D87-8A6B-17A734D7809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524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06420-5EFF-4D87-8A6B-17A734D78098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9561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06420-5EFF-4D87-8A6B-17A734D78098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44916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06420-5EFF-4D87-8A6B-17A734D78098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0805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06420-5EFF-4D87-8A6B-17A734D78098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409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06420-5EFF-4D87-8A6B-17A734D78098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28732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06420-5EFF-4D87-8A6B-17A734D78098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6588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madayy/RUB-Kraftwerksstrategie.gi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560"/>
                </a:solidFill>
                <a:latin typeface="Arial"/>
              </a:rPr>
              <a:t>RUHR-UNIVERSITÄT BOCHUM</a:t>
            </a:r>
          </a:p>
        </p:txBody>
      </p:sp>
      <p:pic>
        <p:nvPicPr>
          <p:cNvPr id="3" name="Picture 2" descr="e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384048"/>
            <a:ext cx="1828800" cy="638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417320"/>
            <a:ext cx="111858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8DAE10"/>
                </a:solidFill>
                <a:latin typeface="Arial"/>
              </a:rPr>
              <a:t>DEMAND &amp; SUPPLY IN ENERGY MARKETS   ·   GROUP PROJECT   ·   INTERMEDIATE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10512"/>
            <a:ext cx="1118585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03560"/>
                </a:solidFill>
                <a:latin typeface="Arial"/>
              </a:rPr>
              <a:t>Evaluating Germany’s Proposed Capacity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03560"/>
                </a:solidFill>
                <a:latin typeface="Arial"/>
              </a:rPr>
              <a:t>Mechanism </a:t>
            </a:r>
            <a:r>
              <a:rPr sz="3300" b="1" i="0">
                <a:solidFill>
                  <a:srgbClr val="8DAE10"/>
                </a:solidFill>
                <a:latin typeface="Arial"/>
              </a:rPr>
              <a:t>“Kraftwerksstrategie”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11002975" cy="471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5C6B7A"/>
                </a:solidFill>
                <a:latin typeface="Arial"/>
              </a:rPr>
              <a:t>A two</a:t>
            </a:r>
            <a:r>
              <a:rPr lang="de-DE" sz="1450" b="0" i="0" dirty="0">
                <a:solidFill>
                  <a:srgbClr val="5C6B7A"/>
                </a:solidFill>
                <a:latin typeface="Arial"/>
              </a:rPr>
              <a:t>-</a:t>
            </a:r>
            <a:r>
              <a:rPr sz="1450" b="0" i="0" dirty="0">
                <a:solidFill>
                  <a:srgbClr val="5C6B7A"/>
                </a:solidFill>
                <a:latin typeface="Arial"/>
              </a:rPr>
              <a:t>layer evaluation</a:t>
            </a:r>
            <a:r>
              <a:rPr lang="de-DE" sz="1450" b="0" i="0" dirty="0">
                <a:solidFill>
                  <a:srgbClr val="5C6B7A"/>
                </a:solidFill>
                <a:latin typeface="Arial"/>
              </a:rPr>
              <a:t>,</a:t>
            </a:r>
            <a:r>
              <a:rPr sz="1450" b="0" i="0" dirty="0">
                <a:solidFill>
                  <a:srgbClr val="5C6B7A"/>
                </a:solidFill>
                <a:latin typeface="Arial"/>
              </a:rPr>
              <a:t> a capacity-mechanism (CRM) literature review, plus a PyPSA dispatch model of the 2030 German power system, built on authentic official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 dirty="0">
                <a:solidFill>
                  <a:srgbClr val="003560"/>
                </a:solidFill>
                <a:latin typeface="Arial"/>
              </a:rPr>
              <a:t>GROUP MEMBERS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397360"/>
              </p:ext>
            </p:extLst>
          </p:nvPr>
        </p:nvGraphicFramePr>
        <p:xfrm>
          <a:off x="502920" y="4370832"/>
          <a:ext cx="5943600" cy="1783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Group member</a:t>
                      </a:r>
                    </a:p>
                  </a:txBody>
                  <a:tcPr marL="73152" marR="54864" marT="27432" marB="27432" anchor="ctr">
                    <a:solidFill>
                      <a:srgbClr val="0035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Matriculation no.</a:t>
                      </a:r>
                    </a:p>
                  </a:txBody>
                  <a:tcPr marL="73152" marR="54864" marT="27432" marB="27432" anchor="ctr">
                    <a:solidFill>
                      <a:srgbClr val="003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lang="de-DE" sz="1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Muhammad Ahmad Khan</a:t>
                      </a:r>
                      <a:endParaRPr sz="14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 i="0" kern="120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108024110422</a:t>
                      </a:r>
                      <a:r>
                        <a:rPr lang="en-DE" sz="1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sz="14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lang="de-DE" sz="1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Muhammad Zaryab Mehdi</a:t>
                      </a:r>
                      <a:endParaRPr sz="14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 i="0" kern="120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108023241872</a:t>
                      </a:r>
                      <a:r>
                        <a:rPr lang="en-DE" sz="1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sz="14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lang="de-DE" sz="1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Ateeq Ur Rehman</a:t>
                      </a:r>
                      <a:endParaRPr sz="14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 i="0" kern="120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108023237579</a:t>
                      </a:r>
                      <a:r>
                        <a:rPr lang="en-DE" sz="1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sz="14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lang="de-DE" sz="1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Haseeb Abid</a:t>
                      </a:r>
                      <a:endParaRPr sz="14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 i="0" kern="120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108024103831</a:t>
                      </a:r>
                      <a:r>
                        <a:rPr lang="en-DE" sz="1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sz="1400" b="1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4069080"/>
            <a:ext cx="4967935" cy="2084831"/>
          </a:xfrm>
          <a:prstGeom prst="roundRect">
            <a:avLst>
              <a:gd name="adj" fmla="val 4500"/>
            </a:avLst>
          </a:prstGeom>
          <a:solidFill>
            <a:srgbClr val="F6F9FB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20840" y="4160520"/>
            <a:ext cx="91440" cy="1901951"/>
          </a:xfrm>
          <a:prstGeom prst="roundRect">
            <a:avLst>
              <a:gd name="adj" fmla="val 50000"/>
            </a:avLst>
          </a:prstGeom>
          <a:solidFill>
            <a:srgbClr val="8DA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13448" y="4224528"/>
            <a:ext cx="4510735" cy="1272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 i="0" dirty="0">
                <a:solidFill>
                  <a:srgbClr val="8DAE10"/>
                </a:solidFill>
                <a:latin typeface="Arial"/>
              </a:rPr>
              <a:t>PROJECT AT A GLANCE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003560"/>
                </a:solidFill>
                <a:latin typeface="Arial"/>
              </a:rPr>
              <a:t>Focus: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Germany’s Kraftwerksstrategie (a CRM)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003560"/>
                </a:solidFill>
                <a:latin typeface="Arial"/>
              </a:rPr>
              <a:t>Method: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PyPSA single</a:t>
            </a:r>
            <a:r>
              <a:rPr lang="de-DE" sz="1200" b="0" i="0" dirty="0">
                <a:solidFill>
                  <a:srgbClr val="1F2A37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node dispatch </a:t>
            </a:r>
            <a:r>
              <a:rPr sz="1200" b="1" i="0" dirty="0">
                <a:solidFill>
                  <a:srgbClr val="1F2A37"/>
                </a:solidFill>
                <a:latin typeface="Arial"/>
              </a:rPr>
              <a:t>·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 HiGHS solver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003560"/>
                </a:solidFill>
                <a:latin typeface="Arial"/>
              </a:rPr>
              <a:t>Horizon: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Hourly, 8760 h </a:t>
            </a:r>
            <a:r>
              <a:rPr sz="1200" b="1" i="0" dirty="0">
                <a:solidFill>
                  <a:srgbClr val="1F2A37"/>
                </a:solidFill>
                <a:latin typeface="Arial"/>
              </a:rPr>
              <a:t>·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 calibrated 2025 → 2030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003560"/>
                </a:solidFill>
                <a:latin typeface="Arial"/>
              </a:rPr>
              <a:t>Data: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Energy</a:t>
            </a:r>
            <a:r>
              <a:rPr lang="de-DE" sz="1200" b="0" i="0" dirty="0">
                <a:solidFill>
                  <a:srgbClr val="1F2A37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Charts (SMARD / ENTSO-E), official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0885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C6B7A"/>
                </a:solidFill>
                <a:latin typeface="Arial"/>
              </a:rPr>
              <a:t>Ruhr-Universität Bochum  ·  Chair of Energy Systems &amp; Energy Economics  ·  Kraftwerksstrategie  · 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6B7A"/>
                </a:solidFill>
                <a:latin typeface="Arial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4484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DAE10"/>
                </a:solidFill>
                <a:latin typeface="Arial"/>
              </a:rPr>
              <a:t>PART 1 · LITERATURE   |  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484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3560"/>
                </a:solidFill>
                <a:latin typeface="Arial"/>
              </a:rPr>
              <a:t>Overarching Research Question</a:t>
            </a:r>
          </a:p>
        </p:txBody>
      </p:sp>
      <p:pic>
        <p:nvPicPr>
          <p:cNvPr id="4" name="Picture 3" descr="e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447" y="365760"/>
            <a:ext cx="1481328" cy="51723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417320"/>
            <a:ext cx="11185855" cy="1783080"/>
          </a:xfrm>
          <a:prstGeom prst="roundRect">
            <a:avLst>
              <a:gd name="adj" fmla="val 5000"/>
            </a:avLst>
          </a:prstGeom>
          <a:solidFill>
            <a:srgbClr val="00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362895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DAE10"/>
                </a:solidFill>
                <a:latin typeface="Arial"/>
              </a:rPr>
              <a:t>RESEARCH QUESTION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FFFFFF"/>
                </a:solidFill>
                <a:latin typeface="Arial"/>
              </a:rPr>
              <a:t>In 2030, how does adding the Kraftwerksstrategie’s firm capacity (≈ 10 GW of new H₂-ready gas) change Germany’s </a:t>
            </a:r>
            <a:r>
              <a:rPr sz="1850" b="1" i="0">
                <a:solidFill>
                  <a:srgbClr val="BFD8EC"/>
                </a:solidFill>
                <a:latin typeface="Arial"/>
              </a:rPr>
              <a:t>security of supply, wholesale prices, gas-fleet utilisation and CO₂ emissions</a:t>
            </a:r>
            <a:r>
              <a:rPr sz="185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29000"/>
            <a:ext cx="5410047" cy="2788920"/>
          </a:xfrm>
          <a:prstGeom prst="roundRect">
            <a:avLst>
              <a:gd name="adj" fmla="val 4500"/>
            </a:avLst>
          </a:prstGeom>
          <a:solidFill>
            <a:srgbClr val="FCF2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3520440"/>
            <a:ext cx="91440" cy="2606039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593592"/>
            <a:ext cx="4952847" cy="21681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 dirty="0">
                <a:solidFill>
                  <a:srgbClr val="003560"/>
                </a:solidFill>
                <a:latin typeface="Arial"/>
              </a:rPr>
              <a:t>Why it matters now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Firm, controllable capacity is leaving the system: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nuclear phased out (2023)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; coal exiting under the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Coal-Exit Act (KVBG)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Weather</a:t>
            </a:r>
            <a:r>
              <a:rPr lang="de-DE" sz="1250" b="0" i="0" dirty="0">
                <a:solidFill>
                  <a:srgbClr val="1F2A37"/>
                </a:solidFill>
                <a:latin typeface="Arial"/>
              </a:rPr>
              <a:t>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dependent wind &amp; solar scale fast toward the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EEG-2023 target of 80 % renewables by 2030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A cold, dark, windless evening must still be covered by firm capacity.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An energy</a:t>
            </a:r>
            <a:r>
              <a:rPr lang="de-DE" sz="1250" b="0" i="0" dirty="0">
                <a:solidFill>
                  <a:srgbClr val="1F2A37"/>
                </a:solidFill>
                <a:latin typeface="Arial"/>
              </a:rPr>
              <a:t>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only market may under</a:t>
            </a:r>
            <a:r>
              <a:rPr lang="de-DE" sz="1250" b="0" i="0" dirty="0">
                <a:solidFill>
                  <a:srgbClr val="1F2A37"/>
                </a:solidFill>
                <a:latin typeface="Arial"/>
              </a:rPr>
              <a:t>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reward new firm plants </a:t>
            </a:r>
            <a:r>
              <a:rPr lang="en-DE" sz="125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 the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“missing</a:t>
            </a:r>
            <a:r>
              <a:rPr lang="de-DE" sz="1250" b="1" i="0" dirty="0">
                <a:solidFill>
                  <a:srgbClr val="003560"/>
                </a:solidFill>
                <a:latin typeface="Arial"/>
              </a:rPr>
              <a:t>-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money” problem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3429000"/>
            <a:ext cx="5410047" cy="2788920"/>
          </a:xfrm>
          <a:prstGeom prst="roundRect">
            <a:avLst>
              <a:gd name="adj" fmla="val 4500"/>
            </a:avLst>
          </a:prstGeom>
          <a:solidFill>
            <a:srgbClr val="F1F6E6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78727" y="3520440"/>
            <a:ext cx="91440" cy="2606039"/>
          </a:xfrm>
          <a:prstGeom prst="roundRect">
            <a:avLst>
              <a:gd name="adj" fmla="val 50000"/>
            </a:avLst>
          </a:prstGeom>
          <a:solidFill>
            <a:srgbClr val="8DA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3047" y="3593592"/>
            <a:ext cx="4952847" cy="928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 dirty="0">
                <a:solidFill>
                  <a:srgbClr val="003560"/>
                </a:solidFill>
                <a:latin typeface="Arial"/>
              </a:rPr>
              <a:t>The policy in one line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1F2A37"/>
                </a:solidFill>
                <a:latin typeface="Arial"/>
              </a:rPr>
              <a:t>The Kraftwerksstrategie pays for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availability (not energy)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 of ≈ 10 GW new H₂</a:t>
            </a:r>
            <a:r>
              <a:rPr lang="de-DE" sz="1250" b="0" i="0" dirty="0">
                <a:solidFill>
                  <a:srgbClr val="1F2A37"/>
                </a:solidFill>
                <a:latin typeface="Arial"/>
              </a:rPr>
              <a:t>-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ready gas → a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capacity remuneration mechanism (CRM)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4910328"/>
            <a:ext cx="49528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DAE10"/>
                </a:solidFill>
                <a:latin typeface="Arial"/>
              </a:rPr>
              <a:t>Four outcomes we test: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047" y="5239512"/>
            <a:ext cx="2384983" cy="384048"/>
          </a:xfrm>
          <a:prstGeom prst="roundRect">
            <a:avLst>
              <a:gd name="adj" fmla="val 50000"/>
            </a:avLst>
          </a:prstGeom>
          <a:solidFill>
            <a:srgbClr val="00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3047" y="5239512"/>
            <a:ext cx="238498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Security of supply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7759" y="5239512"/>
            <a:ext cx="2384983" cy="384048"/>
          </a:xfrm>
          <a:prstGeom prst="roundRect">
            <a:avLst>
              <a:gd name="adj" fmla="val 50000"/>
            </a:avLst>
          </a:prstGeom>
          <a:solidFill>
            <a:srgbClr val="00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47759" y="5239512"/>
            <a:ext cx="238498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Wholesale prices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3047" y="5696712"/>
            <a:ext cx="2384983" cy="384048"/>
          </a:xfrm>
          <a:prstGeom prst="roundRect">
            <a:avLst>
              <a:gd name="adj" fmla="val 50000"/>
            </a:avLst>
          </a:prstGeom>
          <a:solidFill>
            <a:srgbClr val="8DA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3047" y="5696712"/>
            <a:ext cx="238498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2A37"/>
                </a:solidFill>
                <a:latin typeface="Arial"/>
              </a:rPr>
              <a:t>Gas-fleet 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7759" y="5696712"/>
            <a:ext cx="2384983" cy="384048"/>
          </a:xfrm>
          <a:prstGeom prst="roundRect">
            <a:avLst>
              <a:gd name="adj" fmla="val 50000"/>
            </a:avLst>
          </a:prstGeom>
          <a:solidFill>
            <a:srgbClr val="8DA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47759" y="5696712"/>
            <a:ext cx="238498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2A37"/>
                </a:solidFill>
                <a:latin typeface="Arial"/>
              </a:rPr>
              <a:t>CO₂ emissions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0885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C6B7A"/>
                </a:solidFill>
                <a:latin typeface="Arial"/>
              </a:rPr>
              <a:t>Ruhr-Universität Bochum  ·  Chair of Energy Systems &amp; Energy Economics  ·  Kraftwerksstrategie  ·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6B7A"/>
                </a:solidFill>
                <a:latin typeface="Arial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44849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 dirty="0">
                <a:solidFill>
                  <a:srgbClr val="8DAE10"/>
                </a:solidFill>
                <a:latin typeface="Arial"/>
              </a:rPr>
              <a:t>PART 1 ·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4849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03560"/>
                </a:solidFill>
                <a:latin typeface="Arial"/>
              </a:rPr>
              <a:t>Literature Review</a:t>
            </a:r>
            <a:r>
              <a:rPr lang="de-DE" sz="2700" b="1" i="0" dirty="0">
                <a:solidFill>
                  <a:srgbClr val="003560"/>
                </a:solidFill>
                <a:latin typeface="Arial"/>
              </a:rPr>
              <a:t> </a:t>
            </a:r>
            <a:r>
              <a:rPr sz="2700" b="1" i="0" dirty="0">
                <a:solidFill>
                  <a:srgbClr val="003560"/>
                </a:solidFill>
                <a:latin typeface="Arial"/>
              </a:rPr>
              <a:t>and the Research Gap</a:t>
            </a:r>
          </a:p>
        </p:txBody>
      </p:sp>
      <p:pic>
        <p:nvPicPr>
          <p:cNvPr id="4" name="Picture 3" descr="e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447" y="365760"/>
            <a:ext cx="1481328" cy="5172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335024"/>
            <a:ext cx="11185855" cy="1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de-DE" sz="1250" b="0" i="1" dirty="0">
                <a:solidFill>
                  <a:srgbClr val="5C6B7A"/>
                </a:solidFill>
                <a:latin typeface="Arial"/>
              </a:rPr>
              <a:t>Part</a:t>
            </a:r>
            <a:r>
              <a:rPr sz="1250" b="0" i="1" dirty="0">
                <a:solidFill>
                  <a:srgbClr val="5C6B7A"/>
                </a:solidFill>
                <a:latin typeface="Arial"/>
              </a:rPr>
              <a:t> 1 uses cited academic &amp; policy sources only </a:t>
            </a:r>
            <a:r>
              <a:rPr lang="en-DE" sz="125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250" b="0" i="1" dirty="0">
                <a:solidFill>
                  <a:srgbClr val="5C6B7A"/>
                </a:solidFill>
                <a:latin typeface="Arial"/>
              </a:rPr>
              <a:t> no model numbers </a:t>
            </a:r>
            <a:r>
              <a:rPr lang="en-DE" sz="125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250" b="0" i="1" dirty="0">
                <a:solidFill>
                  <a:srgbClr val="5C6B7A"/>
                </a:solidFill>
                <a:latin typeface="Arial"/>
              </a:rPr>
              <a:t> to summarize what CRM theory predicts and to locate the gap this study fills.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410047" cy="4160520"/>
          </a:xfrm>
          <a:prstGeom prst="roundRect">
            <a:avLst>
              <a:gd name="adj" fmla="val 4500"/>
            </a:avLst>
          </a:prstGeom>
          <a:solidFill>
            <a:srgbClr val="F6F9FB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91440" cy="3977639"/>
          </a:xfrm>
          <a:prstGeom prst="roundRect">
            <a:avLst>
              <a:gd name="adj" fmla="val 50000"/>
            </a:avLst>
          </a:prstGeom>
          <a:solidFill>
            <a:srgbClr val="00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4907127" cy="27920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 dirty="0">
                <a:solidFill>
                  <a:srgbClr val="003560"/>
                </a:solidFill>
                <a:latin typeface="Arial"/>
              </a:rPr>
              <a:t>What the CRM literature finds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00" b="1" i="0" dirty="0">
                <a:solidFill>
                  <a:srgbClr val="003560"/>
                </a:solidFill>
                <a:latin typeface="Arial"/>
              </a:rPr>
              <a:t>“Missing money”: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 energy-only markets under-reward firm capacity; price caps truncate scarcity rents (Cramton &amp; </a:t>
            </a:r>
            <a:r>
              <a:rPr sz="1200" b="0" i="0" dirty="0" err="1">
                <a:solidFill>
                  <a:srgbClr val="1F2A37"/>
                </a:solidFill>
                <a:latin typeface="Arial"/>
              </a:rPr>
              <a:t>Stoft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 2005; </a:t>
            </a:r>
            <a:r>
              <a:rPr sz="1200" b="0" i="0" dirty="0" err="1">
                <a:solidFill>
                  <a:srgbClr val="1F2A37"/>
                </a:solidFill>
                <a:latin typeface="Arial"/>
              </a:rPr>
              <a:t>Joskow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 2008).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CRMs </a:t>
            </a:r>
            <a:r>
              <a:rPr sz="1200" b="1" i="0" dirty="0">
                <a:solidFill>
                  <a:srgbClr val="003560"/>
                </a:solidFill>
                <a:latin typeface="Arial"/>
              </a:rPr>
              <a:t>cut price spikes &amp; volatility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, shifting income from energy rents to stable capacity payments (Bublitz et al. 2019).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CRMs </a:t>
            </a:r>
            <a:r>
              <a:rPr sz="1200" b="1" i="0" dirty="0">
                <a:solidFill>
                  <a:srgbClr val="003560"/>
                </a:solidFill>
                <a:latin typeface="Arial"/>
              </a:rPr>
              <a:t>improve adequacy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 and damp the investment cycle</a:t>
            </a:r>
            <a:r>
              <a:rPr lang="de-DE" sz="1200" b="0" i="0" dirty="0">
                <a:solidFill>
                  <a:srgbClr val="1F2A37"/>
                </a:solidFill>
                <a:latin typeface="Arial"/>
              </a:rPr>
              <a:t>,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 but add capacity &amp; consumer cost; sensitive to the target volume (Bhagwat et al. 2017).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00" b="1" i="0" dirty="0">
                <a:solidFill>
                  <a:srgbClr val="003560"/>
                </a:solidFill>
                <a:latin typeface="Arial"/>
              </a:rPr>
              <a:t>Interconnectors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 are partial substitutes for capacity; “missing markets” justify forward auctions (Newbery 2016).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Market-wide payments can hand </a:t>
            </a:r>
            <a:r>
              <a:rPr sz="1200" b="1" i="0" dirty="0">
                <a:solidFill>
                  <a:srgbClr val="003560"/>
                </a:solidFill>
                <a:latin typeface="Arial"/>
              </a:rPr>
              <a:t>windfalls to incumbents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; reliability options curb this (European Parliament 2017).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874519"/>
            <a:ext cx="5410047" cy="4160520"/>
          </a:xfrm>
          <a:prstGeom prst="roundRect">
            <a:avLst>
              <a:gd name="adj" fmla="val 4500"/>
            </a:avLst>
          </a:prstGeom>
          <a:solidFill>
            <a:srgbClr val="F1F6E6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78727" y="1965960"/>
            <a:ext cx="91440" cy="3977639"/>
          </a:xfrm>
          <a:prstGeom prst="roundRect">
            <a:avLst>
              <a:gd name="adj" fmla="val 50000"/>
            </a:avLst>
          </a:prstGeom>
          <a:solidFill>
            <a:srgbClr val="8DA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2039112"/>
            <a:ext cx="4907127" cy="1736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 dirty="0">
                <a:solidFill>
                  <a:srgbClr val="8DAE10"/>
                </a:solidFill>
                <a:latin typeface="Arial"/>
              </a:rPr>
              <a:t>The research gap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Most CRM evidence is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generic or pre-dates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 Germany’s 2030 fleet</a:t>
            </a:r>
            <a:r>
              <a:rPr lang="de-DE" sz="1250" b="0" i="0" dirty="0">
                <a:solidFill>
                  <a:srgbClr val="1F2A37"/>
                </a:solidFill>
                <a:latin typeface="Arial"/>
              </a:rPr>
              <a:t>,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 yet results depend strongly on system specifics.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The Kraftwerksstrategie is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very recent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 (EU agreement 15 Jan 2026): little quantitative, system-specific evaluation exists yet.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 dirty="0">
                <a:solidFill>
                  <a:srgbClr val="8DAE10"/>
                </a:solidFill>
                <a:latin typeface="Arial"/>
              </a:rPr>
              <a:t>▪ 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Few studies offer an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hourly, reproducible, authentic-data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 test of this policy’s effect on German 2030 prices </a:t>
            </a:r>
            <a:r>
              <a:rPr lang="de-DE" sz="1250" b="0" i="0" dirty="0">
                <a:solidFill>
                  <a:srgbClr val="1F2A37"/>
                </a:solidFill>
                <a:latin typeface="Arial"/>
              </a:rPr>
              <a:t>and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 adequacy.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3047" y="4663440"/>
            <a:ext cx="4843119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DA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7639" y="4940904"/>
            <a:ext cx="4541367" cy="597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dirty="0">
                <a:solidFill>
                  <a:srgbClr val="8DAE10"/>
                </a:solidFill>
                <a:latin typeface="Arial"/>
              </a:rPr>
              <a:t>→</a:t>
            </a:r>
            <a:r>
              <a:rPr sz="1250" b="1" i="0" dirty="0">
                <a:solidFill>
                  <a:srgbClr val="8DAE10"/>
                </a:solidFill>
                <a:latin typeface="Arial"/>
              </a:rPr>
              <a:t>  This study fills the gap: </a:t>
            </a:r>
            <a:r>
              <a:rPr sz="1250" b="1" i="0" dirty="0">
                <a:solidFill>
                  <a:srgbClr val="1F2A37"/>
                </a:solidFill>
                <a:latin typeface="Arial"/>
              </a:rPr>
              <a:t>an hourly PyPSA dispatch model on official data that quantifies the +10 GW for the German 2030 system (</a:t>
            </a:r>
            <a:r>
              <a:rPr lang="de-DE" sz="1250" b="1" dirty="0">
                <a:solidFill>
                  <a:srgbClr val="1F2A37"/>
                </a:solidFill>
                <a:latin typeface="Arial"/>
              </a:rPr>
              <a:t>Part</a:t>
            </a:r>
            <a:r>
              <a:rPr sz="1250" b="1" i="0" dirty="0">
                <a:solidFill>
                  <a:srgbClr val="1F2A37"/>
                </a:solidFill>
                <a:latin typeface="Arial"/>
              </a:rPr>
              <a:t> 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0885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C6B7A"/>
                </a:solidFill>
                <a:latin typeface="Arial"/>
              </a:rPr>
              <a:t>Ruhr-Universität Bochum  ·  Chair of Energy Systems &amp; Energy Economics  ·  Kraftwerksstrategie  ·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6B7A"/>
                </a:solidFill>
                <a:latin typeface="Arial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4484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 dirty="0">
                <a:solidFill>
                  <a:srgbClr val="8DAE10"/>
                </a:solidFill>
                <a:latin typeface="Arial"/>
              </a:rPr>
              <a:t>PART 2 · METHODS &amp; WORK PLAN   |   STEP 1</a:t>
            </a:r>
            <a:r>
              <a:rPr lang="en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DE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50" b="1" i="0" dirty="0">
                <a:solidFill>
                  <a:srgbClr val="8DAE10"/>
                </a:solidFill>
                <a:latin typeface="Arial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4849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 i="0" dirty="0">
                <a:solidFill>
                  <a:srgbClr val="003560"/>
                </a:solidFill>
                <a:latin typeface="Arial"/>
              </a:rPr>
              <a:t>Data Pipeline </a:t>
            </a:r>
            <a:r>
              <a:rPr lang="en-DE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2700" b="1" i="0" dirty="0">
                <a:solidFill>
                  <a:srgbClr val="003560"/>
                </a:solidFill>
                <a:latin typeface="Arial"/>
              </a:rPr>
              <a:t> </a:t>
            </a:r>
            <a:r>
              <a:rPr lang="en-GB" sz="2700" b="1" i="1" dirty="0">
                <a:solidFill>
                  <a:srgbClr val="003560"/>
                </a:solidFill>
                <a:latin typeface="Arial"/>
              </a:rPr>
              <a:t>data_loader.py</a:t>
            </a:r>
            <a:endParaRPr sz="2700" b="1" i="1" dirty="0">
              <a:solidFill>
                <a:srgbClr val="003560"/>
              </a:solidFill>
              <a:latin typeface="Arial"/>
            </a:endParaRPr>
          </a:p>
        </p:txBody>
      </p:sp>
      <p:pic>
        <p:nvPicPr>
          <p:cNvPr id="4" name="Picture 3" descr="e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447" y="365760"/>
            <a:ext cx="1481328" cy="5172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417320"/>
            <a:ext cx="5212080" cy="405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8DAE10"/>
                </a:solidFill>
                <a:latin typeface="Arial"/>
              </a:rPr>
              <a:t>What it does:  </a:t>
            </a:r>
            <a:r>
              <a:rPr sz="1300" b="0" i="0" dirty="0">
                <a:solidFill>
                  <a:srgbClr val="1F2A37"/>
                </a:solidFill>
                <a:latin typeface="Arial"/>
              </a:rPr>
              <a:t>downloads real, official 2025 German power data and turns it into the clean hourly inputs the model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84831"/>
            <a:ext cx="5212080" cy="2148840"/>
          </a:xfrm>
          <a:prstGeom prst="roundRect">
            <a:avLst>
              <a:gd name="adj" fmla="val 4500"/>
            </a:avLst>
          </a:prstGeom>
          <a:solidFill>
            <a:srgbClr val="F6F9FB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2176272"/>
            <a:ext cx="91440" cy="1965960"/>
          </a:xfrm>
          <a:prstGeom prst="roundRect">
            <a:avLst>
              <a:gd name="adj" fmla="val 50000"/>
            </a:avLst>
          </a:prstGeom>
          <a:solidFill>
            <a:srgbClr val="00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4754880" cy="1560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 dirty="0">
                <a:solidFill>
                  <a:srgbClr val="003560"/>
                </a:solidFill>
                <a:latin typeface="Arial"/>
              </a:rPr>
              <a:t>1 · PULL 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authentic 2025 data from the Energy-Charts API (re-publishing SMARD / ENTSO-E, CC BY 4.0): hourly load, generation per type, day-ahead price.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 dirty="0">
                <a:solidFill>
                  <a:srgbClr val="EE7203"/>
                </a:solidFill>
                <a:latin typeface="Arial"/>
              </a:rPr>
              <a:t>2 · CLEAN 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resample 15-min → hourly, reindex to a full 8 760-hour grid, and fill any gaps.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 b="1" i="0" dirty="0">
                <a:solidFill>
                  <a:srgbClr val="8DAE10"/>
                </a:solidFill>
                <a:latin typeface="Arial"/>
              </a:rPr>
              <a:t>3 · CONVERT 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turn renewable generation into per-unit capacity factors (0</a:t>
            </a:r>
            <a:r>
              <a:rPr lang="en-DE" sz="12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1) and log full provenance</a:t>
            </a:r>
            <a:r>
              <a:rPr lang="en-GB" sz="1200" b="0" i="0" dirty="0">
                <a:solidFill>
                  <a:srgbClr val="1F2A37"/>
                </a:solidFill>
                <a:latin typeface="Arial"/>
              </a:rPr>
              <a:t> (source, URL, units, date)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891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DAE10"/>
                </a:solidFill>
                <a:latin typeface="Arial"/>
              </a:rPr>
              <a:t>WHAT IT GIVES 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681728"/>
            <a:ext cx="2542032" cy="329184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4681728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3560"/>
                </a:solidFill>
                <a:latin typeface="Arial"/>
              </a:rPr>
              <a:t>demand_2025_hourly.csv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4681728"/>
            <a:ext cx="2542032" cy="329184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4681728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3560"/>
                </a:solidFill>
                <a:latin typeface="Arial"/>
              </a:rPr>
              <a:t>cf_2025_hourly.csv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84064"/>
            <a:ext cx="2542032" cy="329184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5084064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3560"/>
                </a:solidFill>
                <a:latin typeface="Arial"/>
              </a:rPr>
              <a:t>price_2025_hourly.csv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5084064"/>
            <a:ext cx="2542032" cy="329184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80" y="5084064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3560"/>
                </a:solidFill>
                <a:latin typeface="Arial"/>
              </a:rPr>
              <a:t>generation_2025_hourly.csv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86400"/>
            <a:ext cx="2542032" cy="329184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5486400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3560"/>
                </a:solidFill>
                <a:latin typeface="Arial"/>
              </a:rPr>
              <a:t>provenance.json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53328"/>
            <a:ext cx="5212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de-DE" sz="1100" i="1" dirty="0">
                <a:solidFill>
                  <a:srgbClr val="5C6B7A"/>
                </a:solidFill>
                <a:latin typeface="Arial"/>
              </a:rPr>
              <a:t>F</a:t>
            </a:r>
            <a:r>
              <a:rPr sz="1100" b="0" i="1" dirty="0" err="1">
                <a:solidFill>
                  <a:srgbClr val="5C6B7A"/>
                </a:solidFill>
                <a:latin typeface="Arial"/>
              </a:rPr>
              <a:t>ully</a:t>
            </a:r>
            <a:r>
              <a:rPr lang="de-DE" sz="1100" i="1" dirty="0">
                <a:solidFill>
                  <a:srgbClr val="5C6B7A"/>
                </a:solidFill>
                <a:latin typeface="Arial"/>
              </a:rPr>
              <a:t> </a:t>
            </a:r>
            <a:r>
              <a:rPr sz="1100" b="0" i="1" dirty="0">
                <a:solidFill>
                  <a:srgbClr val="5C6B7A"/>
                </a:solidFill>
                <a:latin typeface="Arial"/>
              </a:rPr>
              <a:t>reproducible.</a:t>
            </a:r>
          </a:p>
        </p:txBody>
      </p:sp>
      <p:pic>
        <p:nvPicPr>
          <p:cNvPr id="21" name="Picture 20" descr="code_lo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481328"/>
            <a:ext cx="5715000" cy="32849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9320" y="5074920"/>
            <a:ext cx="5715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1" dirty="0">
                <a:solidFill>
                  <a:srgbClr val="5C6B7A"/>
                </a:solidFill>
                <a:latin typeface="Arial"/>
              </a:rPr>
              <a:t>Core of data_loader.py</a:t>
            </a:r>
            <a:r>
              <a:rPr lang="de-DE" sz="1050" i="1" dirty="0">
                <a:solidFill>
                  <a:srgbClr val="5C6B7A"/>
                </a:solidFill>
                <a:latin typeface="Arial"/>
              </a:rPr>
              <a:t>:</a:t>
            </a:r>
            <a:r>
              <a:rPr sz="1050" b="0" i="1" dirty="0">
                <a:solidFill>
                  <a:srgbClr val="5C6B7A"/>
                </a:solidFill>
                <a:latin typeface="Arial"/>
              </a:rPr>
              <a:t> pull → clean → convert.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00885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C6B7A"/>
                </a:solidFill>
                <a:latin typeface="Arial"/>
              </a:rPr>
              <a:t>Ruhr-Universität Bochum  ·  Chair of Energy Systems &amp; Energy Economics  ·  Kraftwerksstrategie  ·  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6B7A"/>
                </a:solidFill>
                <a:latin typeface="Arial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44849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 dirty="0">
                <a:solidFill>
                  <a:srgbClr val="8DAE10"/>
                </a:solidFill>
                <a:latin typeface="Arial"/>
              </a:rPr>
              <a:t>PART 2 · METHODS &amp; WORK PLAN   |   STEP 2 </a:t>
            </a:r>
            <a:r>
              <a:rPr lang="en-DE" sz="11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150" b="1" i="0" dirty="0">
                <a:solidFill>
                  <a:srgbClr val="8DAE10"/>
                </a:solidFill>
                <a:latin typeface="Arial"/>
              </a:rPr>
              <a:t> </a:t>
            </a:r>
            <a:r>
              <a:rPr lang="en-GB" sz="115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DATA AND </a:t>
            </a:r>
            <a:r>
              <a:rPr sz="1150" b="1" i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4849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 i="0" dirty="0">
                <a:solidFill>
                  <a:srgbClr val="003560"/>
                </a:solidFill>
                <a:latin typeface="Arial"/>
              </a:rPr>
              <a:t>Assumptions &amp; Projection </a:t>
            </a:r>
            <a:r>
              <a:rPr lang="en-DE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2700" b="1" i="0" dirty="0">
                <a:solidFill>
                  <a:srgbClr val="003560"/>
                </a:solidFill>
                <a:latin typeface="Arial"/>
              </a:rPr>
              <a:t> </a:t>
            </a:r>
            <a:r>
              <a:rPr sz="2700" b="1" i="1" dirty="0">
                <a:solidFill>
                  <a:srgbClr val="003560"/>
                </a:solidFill>
                <a:latin typeface="Arial"/>
              </a:rPr>
              <a:t>config.py</a:t>
            </a:r>
          </a:p>
        </p:txBody>
      </p:sp>
      <p:pic>
        <p:nvPicPr>
          <p:cNvPr id="4" name="Picture 3" descr="e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447" y="365760"/>
            <a:ext cx="1481328" cy="5172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335024"/>
            <a:ext cx="11185855" cy="37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 dirty="0">
                <a:solidFill>
                  <a:srgbClr val="1F2A37"/>
                </a:solidFill>
                <a:latin typeface="Arial"/>
              </a:rPr>
              <a:t>config.py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holds every parameter (each source</a:t>
            </a:r>
            <a:r>
              <a:rPr lang="de-DE" sz="1250" b="0" i="0" dirty="0">
                <a:solidFill>
                  <a:srgbClr val="1F2A37"/>
                </a:solidFill>
                <a:latin typeface="Arial"/>
              </a:rPr>
              <a:t>-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tagged;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zero hard-coding in the model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). Two layers: 2025 calibration vs the 2030 target year. The 2030 fleet is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adopted from official targets </a:t>
            </a:r>
            <a:r>
              <a:rPr lang="en-DE" sz="1250" i="0" dirty="0">
                <a:solidFill>
                  <a:srgbClr val="003560"/>
                </a:solidFill>
                <a:latin typeface="Arial"/>
              </a:rPr>
              <a:t>→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 not 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5806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DAE10"/>
                </a:solidFill>
                <a:latin typeface="Arial"/>
              </a:rPr>
              <a:t>HOW THE DATA IS PROJECTED  ·  2025 → 2030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066543"/>
          <a:ext cx="580644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73152" marR="54864" marT="27432" marB="27432" anchor="ctr">
                    <a:solidFill>
                      <a:srgbClr val="00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73152" marR="54864" marT="27432" marB="27432" anchor="ctr">
                    <a:solidFill>
                      <a:srgbClr val="00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2030</a:t>
                      </a:r>
                    </a:p>
                  </a:txBody>
                  <a:tcPr marL="73152" marR="54864" marT="27432" marB="27432" anchor="ctr">
                    <a:solidFill>
                      <a:srgbClr val="00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73152" marR="54864" marT="27432" marB="27432" anchor="ctr">
                    <a:solidFill>
                      <a:srgbClr val="003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Gross demand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466 TWh*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680 TWh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NEP Szenariorahmen 2025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Solar PV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100 GW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215 GW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EEG-2023 / NEP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Wind onshore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63 GW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115 GW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EEG-2023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Wind offshore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9.2 GW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30 GW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WindSeeG / NEP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Lignite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15 GW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9 GW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KVBG (coal exit)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Hard coal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13 GW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8 GW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KVBG (coal exit)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Battery storage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2 GW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F2A37"/>
                          </a:solidFill>
                          <a:latin typeface="Arial"/>
                        </a:rPr>
                        <a:t>25 GW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NEP 2025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F2A37"/>
                          </a:solidFill>
                          <a:latin typeface="Arial"/>
                        </a:rPr>
                        <a:t>CO₂ (EUA) price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75 €/t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110 €/t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7"/>
                          </a:solidFill>
                          <a:latin typeface="Arial"/>
                        </a:rPr>
                        <a:t>NEP / Langfristsz.</a:t>
                      </a:r>
                    </a:p>
                  </a:txBody>
                  <a:tcPr marL="73152" marR="54864" marT="27432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3560"/>
                          </a:solidFill>
                          <a:latin typeface="Arial"/>
                        </a:rPr>
                        <a:t>New H₂-ready CCGT</a:t>
                      </a:r>
                    </a:p>
                  </a:txBody>
                  <a:tcPr marL="73152" marR="54864" marT="27432" marB="27432" anchor="ctr">
                    <a:solidFill>
                      <a:srgbClr val="F1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560"/>
                          </a:solidFill>
                          <a:latin typeface="Arial"/>
                        </a:rPr>
                        <a:t>0 GW</a:t>
                      </a:r>
                    </a:p>
                  </a:txBody>
                  <a:tcPr marL="73152" marR="54864" marT="27432" marB="27432" anchor="ctr">
                    <a:solidFill>
                      <a:srgbClr val="F1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560"/>
                          </a:solidFill>
                          <a:latin typeface="Arial"/>
                        </a:rPr>
                        <a:t>+10 GW</a:t>
                      </a:r>
                    </a:p>
                  </a:txBody>
                  <a:tcPr marL="73152" marR="54864" marT="27432" marB="27432" anchor="ctr">
                    <a:solidFill>
                      <a:srgbClr val="F1F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03560"/>
                          </a:solidFill>
                          <a:latin typeface="Arial"/>
                        </a:rPr>
                        <a:t>BMWE (Scenario B)</a:t>
                      </a:r>
                    </a:p>
                  </a:txBody>
                  <a:tcPr marL="73152" marR="54864" marT="27432" marB="27432" anchor="ctr">
                    <a:solidFill>
                      <a:srgbClr val="F1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45152"/>
            <a:ext cx="5806440" cy="943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0" i="1" dirty="0">
                <a:solidFill>
                  <a:srgbClr val="5C6B7A"/>
                </a:solidFill>
                <a:latin typeface="Arial"/>
              </a:rPr>
              <a:t>2025 = authentic measured load (Energy-Charts).  </a:t>
            </a:r>
            <a:r>
              <a:rPr sz="1100" b="0" i="0" dirty="0">
                <a:solidFill>
                  <a:srgbClr val="1F2A37"/>
                </a:solidFill>
                <a:latin typeface="Arial"/>
              </a:rPr>
              <a:t>We d</a:t>
            </a:r>
            <a:r>
              <a:rPr lang="de-DE" sz="1100" dirty="0">
                <a:solidFill>
                  <a:srgbClr val="1F2A37"/>
                </a:solidFill>
                <a:latin typeface="Arial"/>
              </a:rPr>
              <a:t>o</a:t>
            </a:r>
            <a:r>
              <a:rPr sz="1100" b="0" i="0" dirty="0">
                <a:solidFill>
                  <a:srgbClr val="1F2A37"/>
                </a:solidFill>
                <a:latin typeface="Arial"/>
              </a:rPr>
              <a:t> not forecast 2030: we ad</a:t>
            </a:r>
            <a:r>
              <a:rPr lang="de-DE" sz="1100" dirty="0" err="1">
                <a:solidFill>
                  <a:srgbClr val="1F2A37"/>
                </a:solidFill>
                <a:latin typeface="Arial"/>
              </a:rPr>
              <a:t>opt</a:t>
            </a:r>
            <a:r>
              <a:rPr sz="1100" b="0" i="0" dirty="0">
                <a:solidFill>
                  <a:srgbClr val="1F2A37"/>
                </a:solidFill>
                <a:latin typeface="Arial"/>
              </a:rPr>
              <a:t> legal/official values </a:t>
            </a:r>
            <a:r>
              <a:rPr lang="en-DE" sz="1100" dirty="0">
                <a:solidFill>
                  <a:srgbClr val="003560"/>
                </a:solidFill>
                <a:latin typeface="Arial"/>
              </a:rPr>
              <a:t>→</a:t>
            </a:r>
            <a:r>
              <a:rPr sz="1100" b="0" i="0" dirty="0">
                <a:solidFill>
                  <a:srgbClr val="1F2A37"/>
                </a:solidFill>
                <a:latin typeface="Arial"/>
              </a:rPr>
              <a:t> EEG-2023 &amp; </a:t>
            </a:r>
            <a:r>
              <a:rPr sz="1100" b="0" i="0" dirty="0" err="1">
                <a:solidFill>
                  <a:srgbClr val="1F2A37"/>
                </a:solidFill>
                <a:latin typeface="Arial"/>
              </a:rPr>
              <a:t>WindSeeG</a:t>
            </a:r>
            <a:r>
              <a:rPr sz="1100" b="0" i="0" dirty="0">
                <a:solidFill>
                  <a:srgbClr val="1F2A37"/>
                </a:solidFill>
                <a:latin typeface="Arial"/>
              </a:rPr>
              <a:t> (renewables), KVBG (coal ceiling), NEP 2025 (demand, storage, CO₂), BMWE (the +10 GW).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1F2A37"/>
                </a:solidFill>
                <a:latin typeface="Arial"/>
              </a:rPr>
              <a:t>The 2025 hourly weather &amp; demand </a:t>
            </a:r>
            <a:r>
              <a:rPr sz="1100" b="1" i="0" dirty="0">
                <a:solidFill>
                  <a:srgbClr val="003560"/>
                </a:solidFill>
                <a:latin typeface="Arial"/>
              </a:rPr>
              <a:t>shapes are reused</a:t>
            </a:r>
            <a:r>
              <a:rPr sz="1100" b="0" i="0" dirty="0">
                <a:solidFill>
                  <a:srgbClr val="1F2A37"/>
                </a:solidFill>
                <a:latin typeface="Arial"/>
              </a:rPr>
              <a:t>: demand scaled to 680 TWh; renewable capacity factors re-scaled to the 2030 fleet.</a:t>
            </a:r>
          </a:p>
        </p:txBody>
      </p:sp>
      <p:pic>
        <p:nvPicPr>
          <p:cNvPr id="9" name="Picture 8" descr="code_con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10512"/>
            <a:ext cx="5196535" cy="299194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92240" y="4590288"/>
            <a:ext cx="5196535" cy="786384"/>
          </a:xfrm>
          <a:prstGeom prst="roundRect">
            <a:avLst>
              <a:gd name="adj" fmla="val 4500"/>
            </a:avLst>
          </a:prstGeom>
          <a:solidFill>
            <a:srgbClr val="F1F6E6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4681727"/>
            <a:ext cx="91440" cy="603503"/>
          </a:xfrm>
          <a:prstGeom prst="roundRect">
            <a:avLst>
              <a:gd name="adj" fmla="val 50000"/>
            </a:avLst>
          </a:prstGeom>
          <a:solidFill>
            <a:srgbClr val="8DA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9983" y="4681727"/>
            <a:ext cx="4785055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8DAE10"/>
                </a:solidFill>
                <a:latin typeface="Arial"/>
              </a:rPr>
              <a:t>COSTS INCLUDED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50" dirty="0">
                <a:solidFill>
                  <a:srgbClr val="1F2A37"/>
                </a:solidFill>
                <a:latin typeface="Arial"/>
              </a:rPr>
              <a:t>F</a:t>
            </a:r>
            <a:r>
              <a:rPr sz="1050" b="0" i="0" dirty="0" err="1">
                <a:solidFill>
                  <a:srgbClr val="1F2A37"/>
                </a:solidFill>
                <a:latin typeface="Arial"/>
              </a:rPr>
              <a:t>uel</a:t>
            </a:r>
            <a:r>
              <a:rPr lang="de-DE" sz="1050" b="0" i="0" dirty="0">
                <a:solidFill>
                  <a:srgbClr val="1F2A37"/>
                </a:solidFill>
                <a:latin typeface="Arial"/>
              </a:rPr>
              <a:t>, </a:t>
            </a:r>
            <a:r>
              <a:rPr sz="1050" b="0" i="0" dirty="0">
                <a:solidFill>
                  <a:srgbClr val="1F2A37"/>
                </a:solidFill>
                <a:latin typeface="Arial"/>
              </a:rPr>
              <a:t>CO₂ (EUA)</a:t>
            </a:r>
            <a:r>
              <a:rPr lang="de-DE" sz="1050" b="0" i="0" dirty="0">
                <a:solidFill>
                  <a:srgbClr val="1F2A37"/>
                </a:solidFill>
                <a:latin typeface="Arial"/>
              </a:rPr>
              <a:t>, </a:t>
            </a:r>
            <a:r>
              <a:rPr sz="1050" b="0" i="0" dirty="0">
                <a:solidFill>
                  <a:srgbClr val="1F2A37"/>
                </a:solidFill>
                <a:latin typeface="Arial"/>
              </a:rPr>
              <a:t>variable O&amp;M</a:t>
            </a:r>
            <a:r>
              <a:rPr lang="de-DE" sz="1050" b="0" i="0" dirty="0">
                <a:solidFill>
                  <a:srgbClr val="1F2A37"/>
                </a:solidFill>
                <a:latin typeface="Arial"/>
              </a:rPr>
              <a:t>, </a:t>
            </a:r>
            <a:r>
              <a:rPr sz="1050" b="0" i="0" dirty="0">
                <a:solidFill>
                  <a:srgbClr val="1F2A37"/>
                </a:solidFill>
                <a:latin typeface="Arial"/>
              </a:rPr>
              <a:t>scarcity at VOLL 3000 €/MWh</a:t>
            </a:r>
            <a:r>
              <a:rPr lang="de-DE" sz="1050" b="0" i="0" dirty="0">
                <a:solidFill>
                  <a:srgbClr val="1F2A37"/>
                </a:solidFill>
                <a:latin typeface="Arial"/>
              </a:rPr>
              <a:t>, </a:t>
            </a:r>
            <a:r>
              <a:rPr sz="1050" b="0" i="0" dirty="0">
                <a:solidFill>
                  <a:srgbClr val="1F2A37"/>
                </a:solidFill>
                <a:latin typeface="Arial"/>
              </a:rPr>
              <a:t>annualized CAPEX + fixed O&amp;M of the new CCGT.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468112"/>
            <a:ext cx="5196535" cy="786384"/>
          </a:xfrm>
          <a:prstGeom prst="roundRect">
            <a:avLst>
              <a:gd name="adj" fmla="val 4500"/>
            </a:avLst>
          </a:prstGeom>
          <a:solidFill>
            <a:srgbClr val="F1F3F5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92240" y="5559551"/>
            <a:ext cx="91440" cy="603503"/>
          </a:xfrm>
          <a:prstGeom prst="roundRect">
            <a:avLst>
              <a:gd name="adj" fmla="val 50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9983" y="5559551"/>
            <a:ext cx="4785055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5C6B7A"/>
                </a:solidFill>
                <a:latin typeface="Arial"/>
              </a:rPr>
              <a:t>COSTS EXCLUDED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1F2A37"/>
                </a:solidFill>
                <a:latin typeface="Arial"/>
              </a:rPr>
              <a:t>sunk CAPEX of existing fleet &amp; renewables</a:t>
            </a:r>
            <a:r>
              <a:rPr lang="de-DE" sz="1050" b="0" i="0" dirty="0">
                <a:solidFill>
                  <a:srgbClr val="1F2A37"/>
                </a:solidFill>
                <a:latin typeface="Arial"/>
              </a:rPr>
              <a:t>, </a:t>
            </a:r>
            <a:r>
              <a:rPr sz="1050" b="0" i="0" dirty="0">
                <a:solidFill>
                  <a:srgbClr val="1F2A37"/>
                </a:solidFill>
                <a:latin typeface="Arial"/>
              </a:rPr>
              <a:t>grid/network &amp; redispatch (single node)</a:t>
            </a:r>
            <a:r>
              <a:rPr lang="de-DE" sz="1050" b="0" i="0" dirty="0">
                <a:solidFill>
                  <a:srgbClr val="1F2A37"/>
                </a:solidFill>
                <a:latin typeface="Arial"/>
              </a:rPr>
              <a:t>, </a:t>
            </a:r>
            <a:r>
              <a:rPr sz="1050" b="0" i="0" dirty="0">
                <a:solidFill>
                  <a:srgbClr val="1F2A37"/>
                </a:solidFill>
                <a:latin typeface="Arial"/>
              </a:rPr>
              <a:t>start-up/ramping</a:t>
            </a:r>
            <a:r>
              <a:rPr lang="de-DE" sz="1050" b="0" i="0" dirty="0">
                <a:solidFill>
                  <a:srgbClr val="1F2A37"/>
                </a:solidFill>
                <a:latin typeface="Arial"/>
              </a:rPr>
              <a:t>, </a:t>
            </a:r>
            <a:r>
              <a:rPr sz="1050" b="0" i="0" dirty="0">
                <a:solidFill>
                  <a:srgbClr val="1F2A37"/>
                </a:solidFill>
                <a:latin typeface="Arial"/>
              </a:rPr>
              <a:t>taxes, levies, retail margins.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0885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C6B7A"/>
                </a:solidFill>
                <a:latin typeface="Arial"/>
              </a:rPr>
              <a:t>Ruhr-Universität Bochum  ·  Chair of Energy Systems &amp; Energy Economics  ·  Kraftwerksstrategie  ·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6B7A"/>
                </a:solidFill>
                <a:latin typeface="Arial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44849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 dirty="0">
                <a:solidFill>
                  <a:srgbClr val="8DAE10"/>
                </a:solidFill>
                <a:latin typeface="Arial"/>
              </a:rPr>
              <a:t>PART 2 · METHODS &amp; WORK PLAN   |   STEP 3 </a:t>
            </a:r>
            <a:r>
              <a:rPr lang="en-DE" sz="11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150" b="1" i="0" dirty="0">
                <a:solidFill>
                  <a:srgbClr val="8DAE10"/>
                </a:solidFill>
                <a:latin typeface="Arial"/>
              </a:rPr>
              <a:t>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4849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 i="0" dirty="0">
                <a:solidFill>
                  <a:srgbClr val="003560"/>
                </a:solidFill>
                <a:latin typeface="Arial"/>
              </a:rPr>
              <a:t>The Dispatch Model </a:t>
            </a:r>
            <a:r>
              <a:rPr lang="en-DE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2700" b="1" i="0" dirty="0">
                <a:solidFill>
                  <a:srgbClr val="003560"/>
                </a:solidFill>
                <a:latin typeface="Arial"/>
              </a:rPr>
              <a:t> </a:t>
            </a:r>
            <a:r>
              <a:rPr sz="2700" b="1" i="1" dirty="0">
                <a:solidFill>
                  <a:srgbClr val="003560"/>
                </a:solidFill>
                <a:latin typeface="Arial"/>
              </a:rPr>
              <a:t>model.py</a:t>
            </a:r>
          </a:p>
        </p:txBody>
      </p:sp>
      <p:pic>
        <p:nvPicPr>
          <p:cNvPr id="4" name="Picture 3" descr="e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447" y="365760"/>
            <a:ext cx="1481328" cy="5172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335024"/>
            <a:ext cx="1118585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1F2A37"/>
                </a:solidFill>
                <a:latin typeface="Arial"/>
              </a:rPr>
              <a:t>A single-node (DE/LU “copper-plate”) hourly linear program in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PyPSA, solved with HiGHS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. It builds the network</a:t>
            </a:r>
            <a:r>
              <a:rPr lang="de-DE" sz="1250" b="0" i="0" dirty="0">
                <a:solidFill>
                  <a:srgbClr val="1F2A37"/>
                </a:solidFill>
                <a:latin typeface="Arial"/>
              </a:rPr>
              <a:t> 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one bus, demand, generators (thermal by marginal cost; renewables by hourly availability), storage, a VOLL backstop and capped imports</a:t>
            </a:r>
            <a:r>
              <a:rPr lang="de-DE" sz="1250" b="0" i="0" dirty="0">
                <a:solidFill>
                  <a:srgbClr val="1F2A37"/>
                </a:solidFill>
                <a:latin typeface="Arial"/>
              </a:rPr>
              <a:t>. T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hen finds the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least</a:t>
            </a:r>
            <a:r>
              <a:rPr lang="de-DE" sz="1250" b="1" i="0" dirty="0">
                <a:solidFill>
                  <a:srgbClr val="003560"/>
                </a:solidFill>
                <a:latin typeface="Arial"/>
              </a:rPr>
              <a:t> </a:t>
            </a:r>
            <a:r>
              <a:rPr sz="1250" b="1" i="0" dirty="0">
                <a:solidFill>
                  <a:srgbClr val="003560"/>
                </a:solidFill>
                <a:latin typeface="Arial"/>
              </a:rPr>
              <a:t>cost dispatch for all 8760 hours</a:t>
            </a:r>
            <a:r>
              <a:rPr sz="1250" b="0" i="0" dirty="0">
                <a:solidFill>
                  <a:srgbClr val="1F2A37"/>
                </a:solidFill>
                <a:latin typeface="Arial"/>
              </a:rPr>
              <a:t>; each hour’s price = the marginal cost of the last plant dispatched.</a:t>
            </a:r>
          </a:p>
        </p:txBody>
      </p:sp>
      <p:pic>
        <p:nvPicPr>
          <p:cNvPr id="6" name="Picture 5" descr="schema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84831"/>
            <a:ext cx="5623560" cy="3285050"/>
          </a:xfrm>
          <a:prstGeom prst="rect">
            <a:avLst/>
          </a:prstGeom>
        </p:spPr>
      </p:pic>
      <p:pic>
        <p:nvPicPr>
          <p:cNvPr id="7" name="Picture 6" descr="code_mod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084831"/>
            <a:ext cx="5349240" cy="32931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413248"/>
            <a:ext cx="11185855" cy="877824"/>
          </a:xfrm>
          <a:prstGeom prst="roundRect">
            <a:avLst>
              <a:gd name="adj" fmla="val 4500"/>
            </a:avLst>
          </a:prstGeom>
          <a:solidFill>
            <a:srgbClr val="F1F6E6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504688"/>
            <a:ext cx="91440" cy="694944"/>
          </a:xfrm>
          <a:prstGeom prst="roundRect">
            <a:avLst>
              <a:gd name="adj" fmla="val 50000"/>
            </a:avLst>
          </a:prstGeom>
          <a:solidFill>
            <a:srgbClr val="8DA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767303"/>
            <a:ext cx="10637215" cy="18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250" b="1" i="0" dirty="0">
                <a:solidFill>
                  <a:srgbClr val="8DAE10"/>
                </a:solidFill>
                <a:latin typeface="Arial"/>
              </a:rPr>
              <a:t>Model validation:  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calibrated on real 2025 </a:t>
            </a:r>
            <a:r>
              <a:rPr lang="en-DE" sz="1200" b="1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 modelled mean price </a:t>
            </a:r>
            <a:r>
              <a:rPr sz="1200" b="1" i="0" dirty="0">
                <a:solidFill>
                  <a:srgbClr val="003560"/>
                </a:solidFill>
                <a:latin typeface="Arial"/>
              </a:rPr>
              <a:t>€89.72/MWh vs realized €89.33/MWh → 0.4 % error</a:t>
            </a:r>
            <a:r>
              <a:rPr sz="1200" b="0" i="0" dirty="0">
                <a:solidFill>
                  <a:srgbClr val="1F2A37"/>
                </a:solidFill>
                <a:latin typeface="Arial"/>
              </a:rPr>
              <a:t>.</a:t>
            </a:r>
            <a:r>
              <a:rPr lang="en-DE" sz="1200" b="0" i="0" dirty="0">
                <a:solidFill>
                  <a:srgbClr val="1F2A37"/>
                </a:solidFill>
                <a:latin typeface="Arial"/>
              </a:rPr>
              <a:t>  </a:t>
            </a:r>
            <a:endParaRPr sz="1200" b="0" i="0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885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C6B7A"/>
                </a:solidFill>
                <a:latin typeface="Arial"/>
              </a:rPr>
              <a:t>Ruhr-Universität Bochum  ·  Chair of Energy Systems &amp; Energy Economics  ·  Kraftwerksstrategie  · 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C6B7A"/>
                </a:solidFill>
                <a:latin typeface="Arial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0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DA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BFD8EC"/>
                </a:solidFill>
                <a:latin typeface="Arial"/>
              </a:rPr>
              <a:t>RUHR-UNIVERSITÄT BOCHUM   ·   CHAIR OF ENERGY SYSTEMS &amp; ENERGY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59185"/>
            <a:ext cx="104241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200" b="1" i="0" dirty="0">
                <a:solidFill>
                  <a:srgbClr val="FFFFFF"/>
                </a:solidFill>
                <a:latin typeface="Arial"/>
              </a:rPr>
              <a:t>Thank you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8DAE10"/>
                </a:solidFill>
                <a:latin typeface="Arial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36625"/>
            <a:ext cx="10058400" cy="527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dirty="0">
                <a:solidFill>
                  <a:srgbClr val="FFFFFF"/>
                </a:solidFill>
                <a:latin typeface="Arial"/>
              </a:rPr>
              <a:t>Evaluating Germany’s Kraftwerksstrategie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BFD8EC"/>
                </a:solidFill>
                <a:latin typeface="Arial"/>
              </a:rPr>
              <a:t>Two-layer evaluation</a:t>
            </a:r>
            <a:r>
              <a:rPr lang="de-DE" sz="1300" dirty="0">
                <a:solidFill>
                  <a:srgbClr val="BFD8EC"/>
                </a:solidFill>
                <a:latin typeface="Arial"/>
              </a:rPr>
              <a:t>: </a:t>
            </a:r>
            <a:r>
              <a:rPr sz="1300" b="0" i="0" dirty="0">
                <a:solidFill>
                  <a:srgbClr val="BFD8EC"/>
                </a:solidFill>
                <a:latin typeface="Arial"/>
              </a:rPr>
              <a:t>CRM literature review + a PyPSA model of the 2030 German power system  </a:t>
            </a:r>
            <a:r>
              <a:rPr sz="1300" b="1" i="0" dirty="0">
                <a:solidFill>
                  <a:srgbClr val="BFD8EC"/>
                </a:solidFill>
                <a:latin typeface="Arial"/>
              </a:rPr>
              <a:t>·</a:t>
            </a:r>
            <a:r>
              <a:rPr sz="1300" b="0" i="0" dirty="0">
                <a:solidFill>
                  <a:srgbClr val="BFD8EC"/>
                </a:solidFill>
                <a:latin typeface="Arial"/>
              </a:rPr>
              <a:t>  June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0859A-5807-5823-4D82-F7EA3ABDF56C}"/>
              </a:ext>
            </a:extLst>
          </p:cNvPr>
          <p:cNvSpPr txBox="1">
            <a:spLocks/>
          </p:cNvSpPr>
          <p:nvPr/>
        </p:nvSpPr>
        <p:spPr>
          <a:xfrm>
            <a:off x="914400" y="1628787"/>
            <a:ext cx="845185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model &amp; code: </a:t>
            </a:r>
            <a:r>
              <a:rPr lang="en-GB" sz="16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https://github.com/ahmadayy/RUB-Kraftwerksstrategie.git</a:t>
            </a:r>
            <a:endParaRPr lang="en-GB" sz="160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1335</Words>
  <Application>Microsoft Office PowerPoint</Application>
  <PresentationFormat>Widescreen</PresentationFormat>
  <Paragraphs>143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Muhammad Ahmad</dc:creator>
  <cp:keywords/>
  <dc:description>generated using python-pptx</dc:description>
  <cp:lastModifiedBy>Khan, Muhammad</cp:lastModifiedBy>
  <cp:revision>5</cp:revision>
  <dcterms:created xsi:type="dcterms:W3CDTF">2013-01-27T09:14:16Z</dcterms:created>
  <dcterms:modified xsi:type="dcterms:W3CDTF">2026-06-19T16:49:34Z</dcterms:modified>
  <cp:category/>
</cp:coreProperties>
</file>